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8"/>
  </p:normalViewPr>
  <p:slideViewPr>
    <p:cSldViewPr snapToGrid="0" snapToObjects="1">
      <p:cViewPr varScale="1">
        <p:scale>
          <a:sx n="117" d="100"/>
          <a:sy n="117" d="100"/>
        </p:scale>
        <p:origin x="5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design/T8HZRCspMMC1crtF2xRXg8/GRD-Club?node-id=87-8&amp;t=wcBf1IW6LSE7QOIo-1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C342"/>
                </a:solidFill>
                <a:latin typeface="Aptos"/>
              </a:defRPr>
            </a:pPr>
            <a:r>
              <a:t>ST. CLAIR COLLEGE  /  GRD 509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Aptos"/>
              </a:defRPr>
            </a:pPr>
            <a:r>
              <a:t>Graphic Design Club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92240"/>
            <a:ext cx="11109960" cy="22860"/>
          </a:xfrm>
          <a:prstGeom prst="rect">
            <a:avLst/>
          </a:prstGeom>
          <a:solidFill>
            <a:srgbClr val="F4C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E6E6E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900" b="1">
                <a:solidFill>
                  <a:srgbClr val="FFFFFF"/>
                </a:solidFill>
                <a:latin typeface="Aptos"/>
              </a:defRPr>
            </a:pPr>
            <a:r>
              <a:t>Design System → Responsive Website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7E5E7"/>
                </a:solidFill>
                <a:latin typeface="Aptos"/>
              </a:defRPr>
            </a:pPr>
            <a:r>
              <a:t>Brand identity  /  Primitives  /  Semantic tokens</a:t>
            </a:r>
          </a:p>
          <a:p>
            <a:pPr>
              <a:defRPr sz="1900" b="0">
                <a:solidFill>
                  <a:srgbClr val="E7E5E7"/>
                </a:solidFill>
                <a:latin typeface="Aptos"/>
              </a:defRPr>
            </a:pPr>
            <a:r>
              <a:t>Reusable components  /  Development  /  System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074920"/>
            <a:ext cx="1783080" cy="411480"/>
          </a:xfrm>
          <a:prstGeom prst="roundRect">
            <a:avLst>
              <a:gd name="adj" fmla="val 10000"/>
            </a:avLst>
          </a:prstGeom>
          <a:solidFill>
            <a:srgbClr val="80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5148072"/>
            <a:ext cx="1508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BRAND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5074920"/>
            <a:ext cx="1783080" cy="411480"/>
          </a:xfrm>
          <a:prstGeom prst="roundRect">
            <a:avLst>
              <a:gd name="adj" fmla="val 10000"/>
            </a:avLst>
          </a:prstGeom>
          <a:solidFill>
            <a:srgbClr val="51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80360" y="5148072"/>
            <a:ext cx="1508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SYSTEM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5074920"/>
            <a:ext cx="1783080" cy="411480"/>
          </a:xfrm>
          <a:prstGeom prst="roundRect">
            <a:avLst>
              <a:gd name="adj" fmla="val 10000"/>
            </a:avLst>
          </a:prstGeom>
          <a:solidFill>
            <a:srgbClr val="F4C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0" y="5148072"/>
            <a:ext cx="1508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2629"/>
                </a:solidFill>
                <a:latin typeface="Aptos"/>
              </a:defRPr>
            </a:pPr>
            <a:r>
              <a:t>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18985"/>
                </a:solidFill>
                <a:latin typeface="Aptos"/>
              </a:defRPr>
            </a:pPr>
            <a:r>
              <a:t>GDC / PROCESS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262629"/>
                </a:solidFill>
                <a:latin typeface="Aptos"/>
              </a:defRPr>
            </a:pPr>
            <a:r>
              <a:t>01  Brand direction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92240"/>
            <a:ext cx="11109960" cy="22860"/>
          </a:xfrm>
          <a:prstGeom prst="rect">
            <a:avLst/>
          </a:prstGeom>
          <a:solidFill>
            <a:srgbClr val="51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A696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62629"/>
                </a:solidFill>
                <a:latin typeface="Aptos"/>
              </a:defRPr>
            </a:pPr>
            <a:r>
              <a:t>A creative space for students to explore, collaborate, learn, and share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62629"/>
                </a:solidFill>
                <a:latin typeface="Aptos"/>
              </a:defRPr>
            </a:pPr>
            <a:r>
              <a:t>Visual direction</a:t>
            </a:r>
          </a:p>
          <a:p>
            <a:pPr>
              <a:defRPr sz="1800" b="0">
                <a:solidFill>
                  <a:srgbClr val="262629"/>
                </a:solidFill>
                <a:latin typeface="Aptos"/>
              </a:defRPr>
            </a:pPr>
            <a:r>
              <a:t>• Editorial scale and bold headings</a:t>
            </a:r>
          </a:p>
          <a:p>
            <a:pPr>
              <a:defRPr sz="1800" b="0">
                <a:solidFill>
                  <a:srgbClr val="262629"/>
                </a:solidFill>
                <a:latin typeface="Aptos"/>
              </a:defRPr>
            </a:pPr>
            <a:r>
              <a:t>• Geometric and dimensional artwork</a:t>
            </a:r>
          </a:p>
          <a:p>
            <a:pPr>
              <a:defRPr sz="1800" b="0">
                <a:solidFill>
                  <a:srgbClr val="262629"/>
                </a:solidFill>
                <a:latin typeface="Aptos"/>
              </a:defRPr>
            </a:pPr>
            <a:r>
              <a:t>• Plum, teal, yellow and neutral surfaces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5715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A696E"/>
                </a:solidFill>
                <a:latin typeface="Aptos"/>
              </a:defRPr>
            </a:pPr>
            <a:r>
              <a:t>GDC brand asset from website package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4131295-98CE-7A50-1DBB-F4AC6ECE9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1709" y="2130552"/>
            <a:ext cx="3879691" cy="19376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18985"/>
                </a:solidFill>
                <a:latin typeface="Aptos"/>
              </a:defRPr>
            </a:pPr>
            <a:r>
              <a:t>GDC / PROCESS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262629"/>
                </a:solidFill>
                <a:latin typeface="Aptos"/>
              </a:defRPr>
            </a:pPr>
            <a:r>
              <a:t>02  Colour primitives and visual language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92240"/>
            <a:ext cx="11109960" cy="22860"/>
          </a:xfrm>
          <a:prstGeom prst="rect">
            <a:avLst/>
          </a:prstGeom>
          <a:solidFill>
            <a:srgbClr val="51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A696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2103120" cy="2286000"/>
          </a:xfrm>
          <a:prstGeom prst="roundRect">
            <a:avLst>
              <a:gd name="adj" fmla="val 10000"/>
            </a:avLst>
          </a:prstGeom>
          <a:solidFill>
            <a:srgbClr val="80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4434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2629"/>
                </a:solidFill>
                <a:latin typeface="Aptos"/>
              </a:defRPr>
            </a:pPr>
            <a:r>
              <a:t>PLUM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A696E"/>
                </a:solidFill>
                <a:latin typeface="Aptos"/>
              </a:defRPr>
            </a:pPr>
            <a:r>
              <a:t>#805478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79" y="1920240"/>
            <a:ext cx="2103120" cy="2286000"/>
          </a:xfrm>
          <a:prstGeom prst="roundRect">
            <a:avLst>
              <a:gd name="adj" fmla="val 10000"/>
            </a:avLst>
          </a:prstGeom>
          <a:solidFill>
            <a:srgbClr val="51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79" y="4434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2629"/>
                </a:solidFill>
                <a:latin typeface="Aptos"/>
              </a:defRPr>
            </a:pPr>
            <a:r>
              <a:t>TEAL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79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A696E"/>
                </a:solidFill>
                <a:latin typeface="Aptos"/>
              </a:defRPr>
            </a:pPr>
            <a:r>
              <a:t>#518985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920240"/>
            <a:ext cx="2103120" cy="2286000"/>
          </a:xfrm>
          <a:prstGeom prst="roundRect">
            <a:avLst>
              <a:gd name="adj" fmla="val 10000"/>
            </a:avLst>
          </a:prstGeom>
          <a:solidFill>
            <a:srgbClr val="F4C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57800" y="4434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2629"/>
                </a:solidFill>
                <a:latin typeface="Aptos"/>
              </a:defRPr>
            </a:pPr>
            <a:r>
              <a:t>YELLOW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A696E"/>
                </a:solidFill>
                <a:latin typeface="Aptos"/>
              </a:defRPr>
            </a:pPr>
            <a:r>
              <a:t>#F4C342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19" y="1920240"/>
            <a:ext cx="2103120" cy="2286000"/>
          </a:xfrm>
          <a:prstGeom prst="roundRect">
            <a:avLst>
              <a:gd name="adj" fmla="val 10000"/>
            </a:avLst>
          </a:prstGeom>
          <a:solidFill>
            <a:srgbClr val="2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19" y="4434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2629"/>
                </a:solidFill>
                <a:latin typeface="Aptos"/>
              </a:defRPr>
            </a:pPr>
            <a:r>
              <a:t>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19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A696E"/>
                </a:solidFill>
                <a:latin typeface="Aptos"/>
              </a:defRPr>
            </a:pPr>
            <a:r>
              <a:t>#262629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1240" y="1920240"/>
            <a:ext cx="2103120" cy="228600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21240" y="4434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2629"/>
                </a:solidFill>
                <a:latin typeface="Aptos"/>
              </a:defRPr>
            </a:pPr>
            <a:r>
              <a:t>PAPER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A696E"/>
                </a:solidFill>
                <a:latin typeface="Aptos"/>
              </a:defRPr>
            </a:pPr>
            <a:r>
              <a:t>#F7F5F1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06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62629"/>
                </a:solidFill>
                <a:latin typeface="Aptos"/>
              </a:defRPr>
            </a:pPr>
            <a:r>
              <a:t>Brand primitives are reused as section surfaces, card variants, text and accents.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18985"/>
                </a:solidFill>
                <a:latin typeface="Aptos"/>
              </a:defRPr>
            </a:pPr>
            <a:r>
              <a:t>GDC / PROCESS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262629"/>
                </a:solidFill>
                <a:latin typeface="Aptos"/>
              </a:defRPr>
            </a:pPr>
            <a:r>
              <a:t>03  Primitives → semantic tokens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92240"/>
            <a:ext cx="11109960" cy="22860"/>
          </a:xfrm>
          <a:prstGeom prst="rect">
            <a:avLst/>
          </a:prstGeom>
          <a:solidFill>
            <a:srgbClr val="51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A696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4663440" cy="758952"/>
          </a:xfrm>
          <a:prstGeom prst="roundRect">
            <a:avLst>
              <a:gd name="adj" fmla="val 10000"/>
            </a:avLst>
          </a:prstGeom>
          <a:solidFill>
            <a:srgbClr val="EE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2629"/>
                </a:solidFill>
                <a:latin typeface="Aptos"/>
              </a:defRPr>
            </a:pPr>
            <a:r>
              <a:t>COLOUR PRIMITIVES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89280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A696E"/>
                </a:solidFill>
                <a:latin typeface="Aptos"/>
              </a:defRPr>
            </a:pPr>
            <a:r>
              <a:t>color/brand/primary · secondary · accent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15768"/>
            <a:ext cx="4663440" cy="758952"/>
          </a:xfrm>
          <a:prstGeom prst="roundRect">
            <a:avLst>
              <a:gd name="adj" fmla="val 10000"/>
            </a:avLst>
          </a:prstGeom>
          <a:solidFill>
            <a:srgbClr val="EE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926080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2629"/>
                </a:solidFill>
                <a:latin typeface="Aptos"/>
              </a:defRPr>
            </a:pPr>
            <a:r>
              <a:t>TYPE PRIMITIVES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2916936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A696E"/>
                </a:solidFill>
                <a:latin typeface="Aptos"/>
              </a:defRPr>
            </a:pPr>
            <a:r>
              <a:t>type/display · heading · body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39896"/>
            <a:ext cx="4663440" cy="758952"/>
          </a:xfrm>
          <a:prstGeom prst="roundRect">
            <a:avLst>
              <a:gd name="adj" fmla="val 10000"/>
            </a:avLst>
          </a:prstGeom>
          <a:solidFill>
            <a:srgbClr val="EE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950208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2629"/>
                </a:solidFill>
                <a:latin typeface="Aptos"/>
              </a:defRPr>
            </a:pPr>
            <a:r>
              <a:t>SPACING PRIMITIVES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3941063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A696E"/>
                </a:solidFill>
                <a:latin typeface="Aptos"/>
              </a:defRPr>
            </a:pPr>
            <a:r>
              <a:t>space scales for gaps and section padding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64024"/>
            <a:ext cx="4663440" cy="758952"/>
          </a:xfrm>
          <a:prstGeom prst="roundRect">
            <a:avLst>
              <a:gd name="adj" fmla="val 10000"/>
            </a:avLst>
          </a:prstGeom>
          <a:solidFill>
            <a:srgbClr val="EE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974336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2629"/>
                </a:solidFill>
                <a:latin typeface="Aptos"/>
              </a:defRPr>
            </a:pPr>
            <a:r>
              <a:t>RADIUS PRIMITIVES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496519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A696E"/>
                </a:solidFill>
                <a:latin typeface="Aptos"/>
              </a:defRPr>
            </a:pPr>
            <a:r>
              <a:t>radius/card for rounded surfaces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89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62629"/>
                </a:solidFill>
                <a:latin typeface="Aptos"/>
              </a:defRPr>
            </a:pPr>
            <a:r>
              <a:t>Semantic names describe purpose so the same system can support new content.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18985"/>
                </a:solidFill>
                <a:latin typeface="Aptos"/>
              </a:defRPr>
            </a:pPr>
            <a:r>
              <a:t>GDC / PROCESS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262629"/>
                </a:solidFill>
                <a:latin typeface="Aptos"/>
              </a:defRPr>
            </a:pPr>
            <a:r>
              <a:t>04  Reusable components &amp; variants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92240"/>
            <a:ext cx="11109960" cy="22860"/>
          </a:xfrm>
          <a:prstGeom prst="rect">
            <a:avLst/>
          </a:prstGeom>
          <a:solidFill>
            <a:srgbClr val="51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A696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62629"/>
                </a:solidFill>
                <a:latin typeface="Aptos"/>
              </a:defRPr>
            </a:pPr>
            <a:r>
              <a:t>Figma component library: 38 components and 10 component sets (audit of current file).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560320"/>
            <a:ext cx="3593592" cy="2651760"/>
          </a:xfrm>
          <a:prstGeom prst="roundRect">
            <a:avLst>
              <a:gd name="adj" fmla="val 10000"/>
            </a:avLst>
          </a:prstGeom>
          <a:solidFill>
            <a:srgbClr val="80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" y="2816352"/>
            <a:ext cx="31272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"/>
              </a:defRPr>
            </a:pPr>
            <a:r>
              <a:t>Explore the Club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3547872"/>
            <a:ext cx="31272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Creative Workshops</a:t>
            </a:r>
          </a:p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Design Challenges</a:t>
            </a:r>
          </a:p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Portfolio Reviews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2560320"/>
            <a:ext cx="3593592" cy="2651760"/>
          </a:xfrm>
          <a:prstGeom prst="roundRect">
            <a:avLst>
              <a:gd name="adj" fmla="val 10000"/>
            </a:avLst>
          </a:prstGeom>
          <a:solidFill>
            <a:srgbClr val="51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72584" y="2816352"/>
            <a:ext cx="31272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"/>
              </a:defRPr>
            </a:pPr>
            <a:r>
              <a:t>Upcoming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3547872"/>
            <a:ext cx="31272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Creative Lab Sessions</a:t>
            </a:r>
          </a:p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Design Sprint</a:t>
            </a:r>
          </a:p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Portfolio Meetup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11896" y="2560320"/>
            <a:ext cx="3593592" cy="2651760"/>
          </a:xfrm>
          <a:prstGeom prst="roundRect">
            <a:avLst>
              <a:gd name="adj" fmla="val 10000"/>
            </a:avLst>
          </a:prstGeom>
          <a:solidFill>
            <a:srgbClr val="F4C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31352" y="2816352"/>
            <a:ext cx="31272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62629"/>
                </a:solidFill>
                <a:latin typeface="Aptos"/>
              </a:defRPr>
            </a:pPr>
            <a:r>
              <a:t>Interface states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3547872"/>
            <a:ext cx="31272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62629"/>
                </a:solidFill>
                <a:latin typeface="Aptos"/>
              </a:defRPr>
            </a:pPr>
            <a:r>
              <a:t>Navigation links</a:t>
            </a:r>
          </a:p>
          <a:p>
            <a:pPr>
              <a:defRPr sz="1700" b="0">
                <a:solidFill>
                  <a:srgbClr val="262629"/>
                </a:solidFill>
                <a:latin typeface="Aptos"/>
              </a:defRPr>
            </a:pPr>
            <a:r>
              <a:t>Primary button</a:t>
            </a:r>
          </a:p>
          <a:p>
            <a:pPr>
              <a:defRPr sz="1700" b="0">
                <a:solidFill>
                  <a:srgbClr val="262629"/>
                </a:solidFill>
                <a:latin typeface="Aptos"/>
              </a:defRPr>
            </a:pPr>
            <a:r>
              <a:t>Default / Hover states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62629"/>
                </a:solidFill>
                <a:latin typeface="Aptos"/>
              </a:defRPr>
            </a:pPr>
            <a:r>
              <a:t>Component sets expose Type variants; interface elements also use interaction states.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18985"/>
                </a:solidFill>
                <a:latin typeface="Aptos"/>
              </a:defRPr>
            </a:pPr>
            <a:r>
              <a:t>GDC / PROCESS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262629"/>
                </a:solidFill>
                <a:latin typeface="Aptos"/>
              </a:defRPr>
            </a:pPr>
            <a:r>
              <a:t>05  Responsive layout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92240"/>
            <a:ext cx="11109960" cy="22860"/>
          </a:xfrm>
          <a:prstGeom prst="rect">
            <a:avLst/>
          </a:prstGeom>
          <a:solidFill>
            <a:srgbClr val="51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A696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3611880" cy="3383280"/>
          </a:xfrm>
          <a:prstGeom prst="roundRect">
            <a:avLst>
              <a:gd name="adj" fmla="val 10000"/>
            </a:avLst>
          </a:prstGeom>
          <a:solidFill>
            <a:srgbClr val="E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3611880" cy="118872"/>
          </a:xfrm>
          <a:prstGeom prst="rect">
            <a:avLst/>
          </a:prstGeom>
          <a:solidFill>
            <a:srgbClr val="80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148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2629"/>
                </a:solidFill>
                <a:latin typeface="Aptos"/>
              </a:defRPr>
            </a:pPr>
            <a:r>
              <a:t>DESKTOP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9748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62629"/>
                </a:solidFill>
                <a:latin typeface="Aptos"/>
              </a:defRPr>
            </a:pPr>
            <a:r>
              <a:t>1440px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65760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62629"/>
                </a:solidFill>
                <a:latin typeface="Aptos"/>
              </a:defRPr>
            </a:pPr>
            <a:r>
              <a:t>Multi-column content and three-across event cards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2272" y="1828800"/>
            <a:ext cx="3611880" cy="3383280"/>
          </a:xfrm>
          <a:prstGeom prst="roundRect">
            <a:avLst>
              <a:gd name="adj" fmla="val 10000"/>
            </a:avLst>
          </a:prstGeom>
          <a:solidFill>
            <a:srgbClr val="E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62272" y="1828800"/>
            <a:ext cx="3611880" cy="118872"/>
          </a:xfrm>
          <a:prstGeom prst="rect">
            <a:avLst/>
          </a:prstGeom>
          <a:solidFill>
            <a:srgbClr val="51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72584" y="2148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2629"/>
                </a:solidFill>
                <a:latin typeface="Aptos"/>
              </a:defRPr>
            </a:pPr>
            <a:r>
              <a:t>TABLET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269748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62629"/>
                </a:solidFill>
                <a:latin typeface="Aptos"/>
              </a:defRPr>
            </a:pPr>
            <a:r>
              <a:t>768px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365760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62629"/>
                </a:solidFill>
                <a:latin typeface="Aptos"/>
              </a:defRPr>
            </a:pPr>
            <a:r>
              <a:t>Reflow into a vertical card layout and compact navigation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0184" y="1828800"/>
            <a:ext cx="3611880" cy="3383280"/>
          </a:xfrm>
          <a:prstGeom prst="roundRect">
            <a:avLst>
              <a:gd name="adj" fmla="val 10000"/>
            </a:avLst>
          </a:prstGeom>
          <a:solidFill>
            <a:srgbClr val="E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30184" y="1828800"/>
            <a:ext cx="3611880" cy="118872"/>
          </a:xfrm>
          <a:prstGeom prst="rect">
            <a:avLst/>
          </a:prstGeom>
          <a:solidFill>
            <a:srgbClr val="F4C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40496" y="2148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2629"/>
                </a:solidFill>
                <a:latin typeface="Aptos"/>
              </a:defRPr>
            </a:pPr>
            <a:r>
              <a:t>MOBILE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6" y="269748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62629"/>
                </a:solidFill>
                <a:latin typeface="Aptos"/>
              </a:defRPr>
            </a:pPr>
            <a:r>
              <a:t>390px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496" y="365760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62629"/>
                </a:solidFill>
                <a:latin typeface="Aptos"/>
              </a:defRPr>
            </a:pPr>
            <a:r>
              <a:t>Single-column flow, resized type and touch-friendly spacing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692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62629"/>
                </a:solidFill>
                <a:latin typeface="Aptos"/>
              </a:defRPr>
            </a:pPr>
            <a:r>
              <a:t>Layouts adapt their navigation, typography, spacing, grids, cards, images and content 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18985"/>
                </a:solidFill>
                <a:latin typeface="Aptos"/>
              </a:defRPr>
            </a:pPr>
            <a:r>
              <a:t>GDC / PROCESS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262629"/>
                </a:solidFill>
                <a:latin typeface="Aptos"/>
              </a:defRPr>
            </a:pPr>
            <a:r>
              <a:t>06  Completed page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92240"/>
            <a:ext cx="11109960" cy="22860"/>
          </a:xfrm>
          <a:prstGeom prst="rect">
            <a:avLst/>
          </a:prstGeom>
          <a:solidFill>
            <a:srgbClr val="51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A696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2679192" cy="1252728"/>
          </a:xfrm>
          <a:prstGeom prst="roundRect">
            <a:avLst>
              <a:gd name="adj" fmla="val 10000"/>
            </a:avLst>
          </a:prstGeom>
          <a:solidFill>
            <a:srgbClr val="80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47672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Hero / Masthead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9584" y="1737360"/>
            <a:ext cx="2679192" cy="1252728"/>
          </a:xfrm>
          <a:prstGeom prst="roundRect">
            <a:avLst>
              <a:gd name="adj" fmla="val 10000"/>
            </a:avLst>
          </a:prstGeom>
          <a:solidFill>
            <a:srgbClr val="51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12464" y="1947672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About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19088" y="1737360"/>
            <a:ext cx="2679192" cy="1252728"/>
          </a:xfrm>
          <a:prstGeom prst="roundRect">
            <a:avLst>
              <a:gd name="adj" fmla="val 10000"/>
            </a:avLst>
          </a:prstGeom>
          <a:solidFill>
            <a:srgbClr val="F4C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01968" y="1947672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62629"/>
                </a:solidFill>
                <a:latin typeface="Aptos"/>
              </a:defRPr>
            </a:pPr>
            <a:r>
              <a:t>Featured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08592" y="1737360"/>
            <a:ext cx="2679192" cy="1252728"/>
          </a:xfrm>
          <a:prstGeom prst="roundRect">
            <a:avLst>
              <a:gd name="adj" fmla="val 10000"/>
            </a:avLst>
          </a:prstGeom>
          <a:solidFill>
            <a:srgbClr val="494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91472" y="1947672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Tutorials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10128"/>
            <a:ext cx="2679192" cy="1252728"/>
          </a:xfrm>
          <a:prstGeom prst="roundRect">
            <a:avLst>
              <a:gd name="adj" fmla="val 10000"/>
            </a:avLst>
          </a:prstGeom>
          <a:solidFill>
            <a:srgbClr val="80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352044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Club Activities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9584" y="3310128"/>
            <a:ext cx="2679192" cy="1252728"/>
          </a:xfrm>
          <a:prstGeom prst="roundRect">
            <a:avLst>
              <a:gd name="adj" fmla="val 10000"/>
            </a:avLst>
          </a:prstGeom>
          <a:solidFill>
            <a:srgbClr val="51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12464" y="352044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Upcoming Events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9088" y="3310128"/>
            <a:ext cx="2679192" cy="1252728"/>
          </a:xfrm>
          <a:prstGeom prst="roundRect">
            <a:avLst>
              <a:gd name="adj" fmla="val 10000"/>
            </a:avLst>
          </a:prstGeom>
          <a:solidFill>
            <a:srgbClr val="F4C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01968" y="352044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62629"/>
                </a:solidFill>
                <a:latin typeface="Aptos"/>
              </a:defRPr>
            </a:pPr>
            <a:r>
              <a:t>Get Involved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08592" y="3310128"/>
            <a:ext cx="2679192" cy="1252728"/>
          </a:xfrm>
          <a:prstGeom prst="roundRect">
            <a:avLst>
              <a:gd name="adj" fmla="val 10000"/>
            </a:avLst>
          </a:prstGeom>
          <a:solidFill>
            <a:srgbClr val="494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91472" y="352044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Footer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864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62629"/>
                </a:solidFill>
                <a:latin typeface="Aptos"/>
              </a:defRPr>
            </a:pPr>
            <a:r>
              <a:t>The same section order is represented in the working HTML project and Figma page.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18985"/>
                </a:solidFill>
                <a:latin typeface="Aptos"/>
              </a:defRPr>
            </a:pPr>
            <a:r>
              <a:t>GDC / PROCESS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262629"/>
                </a:solidFill>
                <a:latin typeface="Aptos"/>
              </a:defRPr>
            </a:pPr>
            <a:r>
              <a:t>07  Development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92240"/>
            <a:ext cx="11109960" cy="22860"/>
          </a:xfrm>
          <a:prstGeom prst="rect">
            <a:avLst/>
          </a:prstGeom>
          <a:solidFill>
            <a:srgbClr val="51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A696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62629"/>
                </a:solidFill>
                <a:latin typeface="Aptos"/>
              </a:defRPr>
            </a:pPr>
            <a:r>
              <a:t>Figma design</a:t>
            </a:r>
          </a:p>
          <a:p>
            <a:pPr>
              <a:defRPr sz="2600" b="1">
                <a:solidFill>
                  <a:srgbClr val="262629"/>
                </a:solidFill>
                <a:latin typeface="Aptos"/>
              </a:defRPr>
            </a:pPr>
            <a:r>
              <a:t>↓</a:t>
            </a:r>
          </a:p>
          <a:p>
            <a:pPr>
              <a:defRPr sz="2600" b="1">
                <a:solidFill>
                  <a:srgbClr val="262629"/>
                </a:solidFill>
                <a:latin typeface="Aptos"/>
              </a:defRPr>
            </a:pPr>
            <a:r>
              <a:t>HTML + CSS + 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62629"/>
                </a:solidFill>
                <a:latin typeface="Aptos"/>
              </a:defRPr>
            </a:pPr>
            <a:r>
              <a:t>Code refined using GitHub Copilot and iterative visual comparison with Figma.</a:t>
            </a:r>
          </a:p>
        </p:txBody>
      </p:sp>
      <p:pic>
        <p:nvPicPr>
          <p:cNvPr id="9" name="Picture 8" descr="hero-spi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83080"/>
            <a:ext cx="3474720" cy="3474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66560" y="5715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A696E"/>
                </a:solidFill>
                <a:latin typeface="Aptos"/>
              </a:defRPr>
            </a:pPr>
            <a:r>
              <a:t>Original website visual asset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18985"/>
                </a:solidFill>
                <a:latin typeface="Aptos"/>
              </a:defRPr>
            </a:pPr>
            <a:r>
              <a:t>GDC / PROCESS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262629"/>
                </a:solidFill>
                <a:latin typeface="Aptos"/>
              </a:defRPr>
            </a:pPr>
            <a:r>
              <a:t>08  System test: Upcoming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92240"/>
            <a:ext cx="11109960" cy="22860"/>
          </a:xfrm>
          <a:prstGeom prst="rect">
            <a:avLst/>
          </a:prstGeom>
          <a:solidFill>
            <a:srgbClr val="51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A696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62629"/>
                </a:solidFill>
                <a:latin typeface="Aptos"/>
              </a:defRPr>
            </a:pPr>
            <a:r>
              <a:t>New content, existing design system — no new visual language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423160"/>
            <a:ext cx="3584448" cy="3154680"/>
          </a:xfrm>
          <a:prstGeom prst="roundRect">
            <a:avLst>
              <a:gd name="adj" fmla="val 10000"/>
            </a:avLst>
          </a:prstGeom>
          <a:solidFill>
            <a:srgbClr val="80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651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21868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Creative</a:t>
            </a:r>
          </a:p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Lab Sessions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709160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Experiment and share ideas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2423160"/>
            <a:ext cx="3584448" cy="3154680"/>
          </a:xfrm>
          <a:prstGeom prst="roundRect">
            <a:avLst>
              <a:gd name="adj" fmla="val 10000"/>
            </a:avLst>
          </a:prstGeom>
          <a:solidFill>
            <a:srgbClr val="51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0016" y="2651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321868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Design</a:t>
            </a:r>
          </a:p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Sprint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4709160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Respond to a creative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0183" y="2423160"/>
            <a:ext cx="3584448" cy="3154680"/>
          </a:xfrm>
          <a:prstGeom prst="roundRect">
            <a:avLst>
              <a:gd name="adj" fmla="val 10000"/>
            </a:avLst>
          </a:prstGeom>
          <a:solidFill>
            <a:srgbClr val="F4C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8784" y="2651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2629"/>
                </a:solidFill>
                <a:latin typeface="Aptos"/>
              </a:defRPr>
            </a:pPr>
            <a:r>
              <a:t>COMMUNITY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321868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62629"/>
                </a:solidFill>
                <a:latin typeface="Aptos"/>
              </a:defRPr>
            </a:pPr>
            <a:r>
              <a:t>Portfolio</a:t>
            </a:r>
          </a:p>
          <a:p>
            <a:pPr>
              <a:defRPr sz="2800" b="1">
                <a:solidFill>
                  <a:srgbClr val="262629"/>
                </a:solidFill>
                <a:latin typeface="Aptos"/>
              </a:defRPr>
            </a:pPr>
            <a:r>
              <a:t>Meetup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4709160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62629"/>
                </a:solidFill>
                <a:latin typeface="Aptos"/>
              </a:defRPr>
            </a:pPr>
            <a:r>
              <a:t>Exchange portfolio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7044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62629"/>
                </a:solidFill>
                <a:latin typeface="Aptos"/>
              </a:defRPr>
            </a:pPr>
            <a:r>
              <a:t>Reused: semantic colours, Inter typography, card radius, spacing, CTA pattern and card variants.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18985"/>
                </a:solidFill>
                <a:latin typeface="Aptos"/>
              </a:defRPr>
            </a:pPr>
            <a:r>
              <a:t>GDC / PROCESS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262629"/>
                </a:solidFill>
                <a:latin typeface="Aptos"/>
              </a:defRPr>
            </a:pPr>
            <a:r>
              <a:t>09  Testing and quality checks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92240"/>
            <a:ext cx="11109960" cy="22860"/>
          </a:xfrm>
          <a:prstGeom prst="rect">
            <a:avLst/>
          </a:prstGeom>
          <a:solidFill>
            <a:srgbClr val="51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A696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262629"/>
                </a:solidFill>
                <a:latin typeface="Aptos"/>
              </a:defRPr>
            </a:pPr>
            <a:r>
              <a:t>• Compare Figma and coded layouts at 1440 / 768 / 390 px</a:t>
            </a:r>
          </a:p>
          <a:p>
            <a:pPr>
              <a:defRPr sz="2100" b="0">
                <a:solidFill>
                  <a:srgbClr val="262629"/>
                </a:solidFill>
                <a:latin typeface="Aptos"/>
              </a:defRPr>
            </a:pPr>
            <a:r>
              <a:t>• Test navigation links, menus, hover and scroll interactions</a:t>
            </a:r>
          </a:p>
          <a:p>
            <a:pPr>
              <a:defRPr sz="2100" b="0">
                <a:solidFill>
                  <a:srgbClr val="262629"/>
                </a:solidFill>
                <a:latin typeface="Aptos"/>
              </a:defRPr>
            </a:pPr>
            <a:r>
              <a:t>• Verify card readability, image scaling and content order</a:t>
            </a:r>
          </a:p>
          <a:p>
            <a:pPr>
              <a:defRPr sz="2100" b="0">
                <a:solidFill>
                  <a:srgbClr val="262629"/>
                </a:solidFill>
                <a:latin typeface="Aptos"/>
              </a:defRPr>
            </a:pPr>
            <a:r>
              <a:t>• Check keyboard navigation, contrast and reduced-motion preferences</a:t>
            </a:r>
          </a:p>
          <a:p>
            <a:pPr>
              <a:defRPr sz="2100" b="0">
                <a:solidFill>
                  <a:srgbClr val="262629"/>
                </a:solidFill>
                <a:latin typeface="Aptos"/>
              </a:defRPr>
            </a:pPr>
            <a:r>
              <a:t>• Recheck links and responsive behaviour before submitting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A696E"/>
                </a:solidFill>
                <a:latin typeface="Aptos"/>
              </a:defRPr>
            </a:pPr>
            <a:r>
              <a:t>Testing checklist supplied with this submission package.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C342"/>
                </a:solidFill>
                <a:latin typeface="Aptos"/>
              </a:defRPr>
            </a:pPr>
            <a:r>
              <a:t>GDC / FINAL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Aptos"/>
              </a:defRPr>
            </a:pPr>
            <a:r>
              <a:t>10  Final hand-in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92240"/>
            <a:ext cx="11109960" cy="22860"/>
          </a:xfrm>
          <a:prstGeom prst="rect">
            <a:avLst/>
          </a:prstGeom>
          <a:solidFill>
            <a:srgbClr val="F4C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E6E6E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01   Figma design system and responsive frames</a:t>
            </a:r>
          </a:p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02   Working HTML/CSS/JS project via GitHub</a:t>
            </a:r>
          </a:p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03   Process documentation and Upcoming Events system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257800"/>
            <a:ext cx="1005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6E6E6"/>
                </a:solidFill>
                <a:latin typeface="Aptos"/>
              </a:defRPr>
            </a:pPr>
            <a:r>
              <a:rPr lang="en-CA" dirty="0">
                <a:ln w="0"/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CA" dirty="0" err="1">
                <a:ln w="0"/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www.figma.com</a:t>
            </a:r>
            <a:r>
              <a:rPr lang="en-CA" dirty="0">
                <a:ln w="0"/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/design/T8HZRCspMMC1crtF2xRXg8/</a:t>
            </a:r>
            <a:r>
              <a:rPr lang="en-CA" dirty="0" err="1">
                <a:ln w="0"/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GRD-Club?node-id</a:t>
            </a:r>
            <a:r>
              <a:rPr lang="en-CA" dirty="0">
                <a:ln w="0"/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=87-8&amp;t=wcBf1IW6LSE7QOIo-1</a:t>
            </a:r>
            <a:endParaRPr dirty="0">
              <a:ln w="0"/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567</Words>
  <Application>Microsoft Macintosh PowerPoint</Application>
  <PresentationFormat>Widescreen</PresentationFormat>
  <Paragraphs>127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Riham Salom Razouk</cp:lastModifiedBy>
  <cp:revision>2</cp:revision>
  <dcterms:created xsi:type="dcterms:W3CDTF">2013-01-27T09:14:16Z</dcterms:created>
  <dcterms:modified xsi:type="dcterms:W3CDTF">2026-10-13T20:19:31Z</dcterms:modified>
  <cp:category/>
</cp:coreProperties>
</file>